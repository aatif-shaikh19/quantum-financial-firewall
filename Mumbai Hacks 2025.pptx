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445643-03F9-4D65-BF47-0C426D30A473}">
  <a:tblStyle styleId="{89445643-03F9-4D65-BF47-0C426D30A4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a99df10e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a99df10e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99df10e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99df10e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a99df10e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a99df10e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99df10e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99df10e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a99df10e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a99df10e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99df10e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a99df10e2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99df10e2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a99df10e2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a99df10e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a99df10e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99df10e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99df10e2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99df10e2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a99df10e2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CCC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98750" y="744575"/>
            <a:ext cx="5982000" cy="14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Pitch Deck Template</a:t>
            </a:r>
            <a:endParaRPr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98750" y="2355650"/>
            <a:ext cx="5899800" cy="149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Inter Medium"/>
              <a:buChar char="●"/>
            </a:pPr>
            <a:r>
              <a:rPr lang="en-GB" sz="1400">
                <a:solidFill>
                  <a:srgbClr val="990000"/>
                </a:solidFill>
                <a:latin typeface="Inter Medium"/>
                <a:ea typeface="Inter Medium"/>
                <a:cs typeface="Inter Medium"/>
                <a:sym typeface="Inter Medium"/>
              </a:rPr>
              <a:t>Make a copy of this deck. </a:t>
            </a:r>
            <a:endParaRPr sz="1400">
              <a:solidFill>
                <a:srgbClr val="99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Inter Medium"/>
              <a:buChar char="●"/>
            </a:pPr>
            <a:r>
              <a:rPr lang="en-GB" sz="1400">
                <a:solidFill>
                  <a:srgbClr val="990000"/>
                </a:solidFill>
                <a:latin typeface="Inter Medium"/>
                <a:ea typeface="Inter Medium"/>
                <a:cs typeface="Inter Medium"/>
                <a:sym typeface="Inter Medium"/>
              </a:rPr>
              <a:t>Do NOT add or remove any slides</a:t>
            </a:r>
            <a:endParaRPr sz="1400">
              <a:solidFill>
                <a:srgbClr val="99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1400"/>
              <a:buFont typeface="Inter Medium"/>
              <a:buChar char="●"/>
            </a:pPr>
            <a:r>
              <a:rPr lang="en-GB" sz="1400">
                <a:solidFill>
                  <a:srgbClr val="990000"/>
                </a:solidFill>
                <a:latin typeface="Inter Medium"/>
                <a:ea typeface="Inter Medium"/>
                <a:cs typeface="Inter Medium"/>
                <a:sym typeface="Inter Medium"/>
              </a:rPr>
              <a:t>Don’t forget to click on ‘Share’ and set ‘General Access’ to </a:t>
            </a:r>
            <a:r>
              <a:rPr lang="en-GB" sz="1400" b="1">
                <a:solidFill>
                  <a:srgbClr val="990000"/>
                </a:solidFill>
                <a:latin typeface="Inter"/>
                <a:ea typeface="Inter"/>
                <a:cs typeface="Inter"/>
                <a:sym typeface="Inter"/>
              </a:rPr>
              <a:t>anyone with the link can view</a:t>
            </a:r>
            <a:endParaRPr sz="1400" b="1">
              <a:solidFill>
                <a:srgbClr val="99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Quantum Financial Firewall</a:t>
            </a:r>
            <a:endParaRPr sz="5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65250" y="2394526"/>
            <a:ext cx="8520600" cy="1212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Stopping Frauds Before It Even Begins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4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Team Name : </a:t>
            </a:r>
            <a:r>
              <a:rPr lang="en-GB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ProbSolver</a:t>
            </a: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3310961428"/>
              </p:ext>
            </p:extLst>
          </p:nvPr>
        </p:nvGraphicFramePr>
        <p:xfrm>
          <a:off x="952500" y="4302575"/>
          <a:ext cx="7239000" cy="335250"/>
        </p:xfrm>
        <a:graphic>
          <a:graphicData uri="http://schemas.openxmlformats.org/drawingml/2006/table">
            <a:tbl>
              <a:tblPr>
                <a:noFill/>
                <a:tableStyleId>{89445643-03F9-4D65-BF47-0C426D30A473}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Aatif Shaikh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Ariba Khan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 sz="1000" dirty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418900" y="1353150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Inter"/>
                <a:ea typeface="Inter"/>
                <a:cs typeface="Inter"/>
                <a:sym typeface="Inter"/>
              </a:rPr>
              <a:t>A picture of your team!</a:t>
            </a:r>
            <a:endParaRPr sz="1800"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C808BA98-A4AB-8EA9-891B-9177039BA2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689CFD-D2E6-AEA0-6A49-7B953CB20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828" y="766426"/>
            <a:ext cx="4967143" cy="3030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>
            <a:spLocks noGrp="1"/>
          </p:cNvSpPr>
          <p:nvPr>
            <p:ph type="ctrTitle"/>
          </p:nvPr>
        </p:nvSpPr>
        <p:spPr>
          <a:xfrm>
            <a:off x="812600" y="849250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sz="3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812600" y="2026700"/>
            <a:ext cx="6454200" cy="20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/>
            <a:r>
              <a:rPr lang="en-US" sz="2000" dirty="0">
                <a:solidFill>
                  <a:schemeClr val="bg1"/>
                </a:solidFill>
              </a:rPr>
              <a:t>Current financial systems cannot protect users from real-time fraud, multi-rail threats, and upcoming quantum attacks, QFF solves this by providing the world’s first universal, AI-driven, quantum-secure transaction firewall.</a:t>
            </a:r>
            <a:endParaRPr sz="2000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>
            <a:spLocks noGrp="1"/>
          </p:cNvSpPr>
          <p:nvPr>
            <p:ph type="ctrTitle"/>
          </p:nvPr>
        </p:nvSpPr>
        <p:spPr>
          <a:xfrm>
            <a:off x="812800" y="572753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sz="3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9C43AA4-C7B0-4DD3-8C1D-DA15872E0C0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9168" y="1712990"/>
            <a:ext cx="672185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A </a:t>
            </a: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single universal protection layer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that secures every kind of transaction — UPI, bank transfers, cards, wallets, crypto, forex, trading — something no existing system unifies today.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An </a:t>
            </a: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Agentic AI engine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that evaluates risk </a:t>
            </a:r>
            <a:r>
              <a:rPr lang="en-US" altLang="en-US" sz="1100" i="1" dirty="0">
                <a:solidFill>
                  <a:schemeClr val="bg1"/>
                </a:solidFill>
                <a:latin typeface="Arial" panose="020B0604020202020204" pitchFamily="34" charset="0"/>
              </a:rPr>
              <a:t>before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money leaves the user’s device, detecting scams, abnormal behavior, suspicious receivers, velocity spikes, and fraud signatures in real time.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Quantum-secure communication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using PQC algorithms and simulated QKD, ensuring transactions stay protected even against future quantum computers that can break today’s encryption.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A </a:t>
            </a: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live risk score with explainability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, giving users clear visibility into why a transaction is safe, flagged, or blocked — something traditional banking apps don’t offer.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Tamper-proof, immutable transaction logs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, enabling complete transparency, auditability, and trust for users, banks, and regulators.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Independent security layer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that continues to protect users even if a bank merges, shuts down, or faces internal fraud — ensuring consistent safety across institutions.</a:t>
            </a:r>
          </a:p>
          <a:p>
            <a:pPr marL="171450" lvl="0" indent="-1714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A system designed not just to react, but to </a:t>
            </a: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predict and prevent fraud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, making financial security proactive instead of defensive.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1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33FD89-985D-E290-8D68-A2588C7DD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0482" y="621282"/>
            <a:ext cx="4203035" cy="39009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2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D8ED06-8A09-ECF4-B555-545335C94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837" y="636075"/>
            <a:ext cx="6044222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>
            <a:spLocks noGrp="1"/>
          </p:cNvSpPr>
          <p:nvPr>
            <p:ph type="subTitle" idx="1"/>
          </p:nvPr>
        </p:nvSpPr>
        <p:spPr>
          <a:xfrm>
            <a:off x="1875750" y="4560375"/>
            <a:ext cx="5392500" cy="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Screenshot 3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78813F-6403-81BE-51FF-F888D3DC7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240" y="775450"/>
            <a:ext cx="7081520" cy="3725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>
            <a:spLocks noGrp="1"/>
          </p:cNvSpPr>
          <p:nvPr>
            <p:ph type="ctrTitle"/>
          </p:nvPr>
        </p:nvSpPr>
        <p:spPr>
          <a:xfrm>
            <a:off x="650040" y="497225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Business Model</a:t>
            </a:r>
            <a:endParaRPr sz="3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D97F57B1-C139-1B12-ED98-F8BF8D474F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4124" y="1921365"/>
            <a:ext cx="8565231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B2B Licensing to Banks &amp;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Fintechs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200" dirty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primary revenue through per-user or per-transaction security engine licensing.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Premium User Subscriptions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: QFF Shield for advanced fraud alerts, AI risk reports, and quantum-safe protection.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Enterprise Dashboards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: real-time fraud intelligence, anomaly heatmaps, and risk analytics for institutions.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Government &amp; Regulator Contracts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: RBI-style agencies buy national-level fraud intelligence, behavioral risk clusters, and quantum readiness audits.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Incentive-Based Revenue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: banks pay a share of the money QFF saves by detecting and blocking fraud before execution.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Fraud Intelligence Marketplace (Cluster-Based)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: selling scam clusters, behavioral risk graphs, and fraud-network intelligence to banks and regulators.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Internal Security Plugins for Fin Apps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fintechs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integrate QFF’s agentic risk engine to secure payments, wallets, and trading flows.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Micro-Revenue from Fraud Prevention APIs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: per-call fees for identity risk scoring, receiver verification, and anomaly checks.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>
            <a:spLocks noGrp="1"/>
          </p:cNvSpPr>
          <p:nvPr>
            <p:ph type="ctrTitle"/>
          </p:nvPr>
        </p:nvSpPr>
        <p:spPr>
          <a:xfrm>
            <a:off x="3102610" y="227263"/>
            <a:ext cx="4076700" cy="103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Anything else?</a:t>
            </a:r>
            <a:endParaRPr sz="3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22"/>
          <p:cNvSpPr txBox="1">
            <a:spLocks noGrp="1"/>
          </p:cNvSpPr>
          <p:nvPr>
            <p:ph type="subTitle" idx="1"/>
          </p:nvPr>
        </p:nvSpPr>
        <p:spPr>
          <a:xfrm>
            <a:off x="431800" y="1481351"/>
            <a:ext cx="8280400" cy="26875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World First Prototype 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that combines </a:t>
            </a: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Agentic AI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with Quantum Secure Financial Protection across all payment rails.</a:t>
            </a:r>
          </a:p>
          <a:p>
            <a:pPr marL="342900"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QFF is not just a fintech product , it is a universal security layer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built to protect every payment rail.</a:t>
            </a:r>
          </a:p>
          <a:p>
            <a:pPr marL="342900"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Our Agentic AI performs real-time, pre-transaction fraud detection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, analyzing behavior, anomalies, receiver safety, and risk patterns </a:t>
            </a:r>
            <a:r>
              <a:rPr lang="en-US" altLang="en-US" sz="1100" i="1" dirty="0">
                <a:solidFill>
                  <a:schemeClr val="bg1"/>
                </a:solidFill>
                <a:latin typeface="Arial" panose="020B0604020202020204" pitchFamily="34" charset="0"/>
              </a:rPr>
              <a:t>before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money leaves the account.</a:t>
            </a:r>
          </a:p>
          <a:p>
            <a:pPr marL="342900"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Quantum-safe protection is built in from day one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, preparing banks and </a:t>
            </a:r>
            <a:r>
              <a:rPr lang="en-US" altLang="en-US" sz="1100" dirty="0" err="1">
                <a:solidFill>
                  <a:schemeClr val="bg1"/>
                </a:solidFill>
                <a:latin typeface="Arial" panose="020B0604020202020204" pitchFamily="34" charset="0"/>
              </a:rPr>
              <a:t>fintechs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 for upcoming PQC and QKD requirements that most institutions are not ready for.</a:t>
            </a:r>
          </a:p>
          <a:p>
            <a:pPr marL="342900"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The solution works independently of banks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, ensuring users remain protected even if banks merge, fail, face outages, or experience internal fraud weaknesses.</a:t>
            </a:r>
          </a:p>
          <a:p>
            <a:pPr marL="342900"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rPr>
              <a:t>The system supports irregular income users</a:t>
            </a:r>
            <a:r>
              <a:rPr lang="en-US" altLang="en-US" sz="1100" dirty="0">
                <a:solidFill>
                  <a:schemeClr val="bg1"/>
                </a:solidFill>
                <a:latin typeface="Arial" panose="020B0604020202020204" pitchFamily="34" charset="0"/>
              </a:rPr>
              <a:t>, giving personalized spending insights, risk alerts, and financial coaching that traditional banking apps fail to offer.</a:t>
            </a:r>
          </a:p>
          <a:p>
            <a:pPr marL="342900" lvl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1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9A932A-B721-7899-8FA7-947C7899C4B6}"/>
              </a:ext>
            </a:extLst>
          </p:cNvPr>
          <p:cNvSpPr txBox="1"/>
          <p:nvPr/>
        </p:nvSpPr>
        <p:spPr>
          <a:xfrm>
            <a:off x="269240" y="3453825"/>
            <a:ext cx="8605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QFF transforms financial security from reactive to proactive, from fragmented to unified, and from vulnerable to quantum-safe, building the future of trusted digital money for India and the world.</a:t>
            </a:r>
            <a:endParaRPr lang="en-IN" sz="1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 title="slid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032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3"/>
          <p:cNvSpPr txBox="1">
            <a:spLocks noGrp="1"/>
          </p:cNvSpPr>
          <p:nvPr>
            <p:ph type="subTitle" idx="1"/>
          </p:nvPr>
        </p:nvSpPr>
        <p:spPr>
          <a:xfrm>
            <a:off x="311700" y="2677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Announcement : Mumbai hacks 25, securing Guinness Record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Lessss</a:t>
            </a:r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IN" sz="2000" dirty="0" err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Goooo</a:t>
            </a:r>
            <a:r>
              <a:rPr lang="en-IN" sz="2000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!!</a:t>
            </a:r>
            <a:endParaRPr sz="2000" dirty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250" y="278225"/>
            <a:ext cx="2578377" cy="2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656</Words>
  <Application>Microsoft Office PowerPoint</Application>
  <PresentationFormat>On-screen Show (16:9)</PresentationFormat>
  <Paragraphs>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Inter</vt:lpstr>
      <vt:lpstr>Inter Medium</vt:lpstr>
      <vt:lpstr>Wingdings</vt:lpstr>
      <vt:lpstr>Simple Light</vt:lpstr>
      <vt:lpstr>Pitch Deck Template</vt:lpstr>
      <vt:lpstr>Quantum Financial Firewall</vt:lpstr>
      <vt:lpstr>PowerPoint Presentation</vt:lpstr>
      <vt:lpstr>Problem Statement</vt:lpstr>
      <vt:lpstr>Solution</vt:lpstr>
      <vt:lpstr>PowerPoint Presentation</vt:lpstr>
      <vt:lpstr>PowerPoint Presentation</vt:lpstr>
      <vt:lpstr>PowerPoint Presentation</vt:lpstr>
      <vt:lpstr>Business Model</vt:lpstr>
      <vt:lpstr>Anything else?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AATIF SHAIKH</dc:creator>
  <cp:lastModifiedBy>AATIF SHAIKH</cp:lastModifiedBy>
  <cp:revision>3</cp:revision>
  <dcterms:modified xsi:type="dcterms:W3CDTF">2025-11-29T05:31:59Z</dcterms:modified>
</cp:coreProperties>
</file>